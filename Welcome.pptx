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4"/>
  </p:sldMasterIdLst>
  <p:notesMasterIdLst>
    <p:notesMasterId r:id="rId14"/>
  </p:notesMasterIdLst>
  <p:sldIdLst>
    <p:sldId id="284" r:id="rId5"/>
    <p:sldId id="299" r:id="rId6"/>
    <p:sldId id="287" r:id="rId7"/>
    <p:sldId id="300" r:id="rId8"/>
    <p:sldId id="285" r:id="rId9"/>
    <p:sldId id="298" r:id="rId10"/>
    <p:sldId id="297" r:id="rId11"/>
    <p:sldId id="294" r:id="rId12"/>
    <p:sldId id="29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EFD3"/>
    <a:srgbClr val="E9C46A"/>
    <a:srgbClr val="F15574"/>
    <a:srgbClr val="F4EBE8"/>
    <a:srgbClr val="ECC4BF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899" autoAdjust="0"/>
  </p:normalViewPr>
  <p:slideViewPr>
    <p:cSldViewPr snapToGrid="0" snapToObjects="1" showGuides="1">
      <p:cViewPr varScale="1">
        <p:scale>
          <a:sx n="70" d="100"/>
          <a:sy n="70" d="100"/>
        </p:scale>
        <p:origin x="738" y="60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577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309657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556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006772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46302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799818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264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81815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513621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089760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565290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884272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835811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523088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069590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42299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794549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267165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Click to edit Master subtitle style</a:t>
            </a:r>
            <a:endParaRPr lang="en-US" noProof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GB" noProof="0"/>
              <a:t>Click icon to add picture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780211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53843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983970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6985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Click to edit Master subtitle style</a:t>
            </a:r>
            <a:endParaRPr lang="en-US" noProof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GB" noProof="0"/>
              <a:t>Click icon to add picture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84083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38DD7C-FCF4-2E56-3814-0EB42D8D150C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D98AC6-AEA3-C123-8A46-331FC6077055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D1DAE2-183F-552F-1EA0-8C198CBC1C18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8AC7A2-8F51-CC27-45AD-26CDCCCB0E32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496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59" r:id="rId23"/>
    <p:sldLayoutId id="2147483661" r:id="rId24"/>
    <p:sldLayoutId id="2147483663" r:id="rId25"/>
    <p:sldLayoutId id="2147483664" r:id="rId26"/>
    <p:sldLayoutId id="2147483668" r:id="rId27"/>
    <p:sldLayoutId id="2147483662" r:id="rId28"/>
    <p:sldLayoutId id="2147483653" r:id="rId29"/>
    <p:sldLayoutId id="2147483669" r:id="rId30"/>
    <p:sldLayoutId id="2147483665" r:id="rId3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4F37AB6-4681-D744-2F89-2949D0867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172041"/>
            <a:ext cx="4873752" cy="1343486"/>
          </a:xfrm>
        </p:spPr>
        <p:txBody>
          <a:bodyPr/>
          <a:lstStyle/>
          <a:p>
            <a:r>
              <a:rPr lang="en-US" sz="7200"/>
              <a:t>Welcome</a:t>
            </a:r>
            <a:endParaRPr lang="en-US" dirty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Simple Chatbot and DSA Project </a:t>
            </a:r>
          </a:p>
          <a:p>
            <a:endParaRPr lang="en-US" dirty="0"/>
          </a:p>
        </p:txBody>
      </p:sp>
      <p:pic>
        <p:nvPicPr>
          <p:cNvPr id="1032" name="Picture 8" descr="Que es un chatbot y para que sirve2">
            <a:extLst>
              <a:ext uri="{FF2B5EF4-FFF2-40B4-BE49-F238E27FC236}">
                <a16:creationId xmlns:a16="http://schemas.microsoft.com/office/drawing/2014/main" id="{3E164E18-D6C7-BF3E-1E1E-2238459A329B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33" r="28133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5000" b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 Studio Code Has a Malicious Extension Problem">
            <a:extLst>
              <a:ext uri="{FF2B5EF4-FFF2-40B4-BE49-F238E27FC236}">
                <a16:creationId xmlns:a16="http://schemas.microsoft.com/office/drawing/2014/main" id="{B725F99F-286B-FD71-A2BA-CDC1B24CDB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5" t="14604" r="10574"/>
          <a:stretch>
            <a:fillRect/>
          </a:stretch>
        </p:blipFill>
        <p:spPr bwMode="auto">
          <a:xfrm>
            <a:off x="640449" y="612948"/>
            <a:ext cx="5455551" cy="422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33D327-26B3-ACCC-99DF-9FC7C83526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08" r="24418" b="8889"/>
          <a:stretch>
            <a:fillRect/>
          </a:stretch>
        </p:blipFill>
        <p:spPr>
          <a:xfrm>
            <a:off x="5803452" y="612949"/>
            <a:ext cx="5748098" cy="5635451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7E2FE-E4F5-4D0E-ACFE-005A22022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1AF74-18A6-37F2-F854-EF5BAECFE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Simple Chatbot Project Lead By Virendra Pal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AB6034-9FA1-6FCE-94E0-62A50C4A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2</a:t>
            </a:fld>
            <a:endParaRPr lang="en-US" noProof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DCDF92-ABD4-5443-62F8-47D197C79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502016"/>
              </p:ext>
            </p:extLst>
          </p:nvPr>
        </p:nvGraphicFramePr>
        <p:xfrm>
          <a:off x="815925" y="3288235"/>
          <a:ext cx="6372666" cy="2595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35859">
                  <a:extLst>
                    <a:ext uri="{9D8B030D-6E8A-4147-A177-3AD203B41FA5}">
                      <a16:colId xmlns:a16="http://schemas.microsoft.com/office/drawing/2014/main" val="867019513"/>
                    </a:ext>
                  </a:extLst>
                </a:gridCol>
                <a:gridCol w="2274628">
                  <a:extLst>
                    <a:ext uri="{9D8B030D-6E8A-4147-A177-3AD203B41FA5}">
                      <a16:colId xmlns:a16="http://schemas.microsoft.com/office/drawing/2014/main" val="2705193280"/>
                    </a:ext>
                  </a:extLst>
                </a:gridCol>
                <a:gridCol w="1603717">
                  <a:extLst>
                    <a:ext uri="{9D8B030D-6E8A-4147-A177-3AD203B41FA5}">
                      <a16:colId xmlns:a16="http://schemas.microsoft.com/office/drawing/2014/main" val="2677484211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826352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Contributions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393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Virendra Pal (Leader)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BCAI2024126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149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Vivek Verma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BCCC2024017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671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Anamta Niyazi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BCAI2024019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263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Arshdeep Kaur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BCAI2024034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258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Suryansh Shrivastav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BACI2024017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5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Piyush Gupta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BCAI2024116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06221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1F5D696-EDF9-3F65-5CB4-140B6CBB4715}"/>
              </a:ext>
            </a:extLst>
          </p:cNvPr>
          <p:cNvSpPr/>
          <p:nvPr/>
        </p:nvSpPr>
        <p:spPr>
          <a:xfrm>
            <a:off x="1086096" y="1160540"/>
            <a:ext cx="4365298" cy="166199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Simple Chatbot</a:t>
            </a:r>
          </a:p>
          <a:p>
            <a:pPr algn="ctr"/>
            <a:r>
              <a:rPr lang="en-IN" sz="2400" dirty="0"/>
              <a:t>DSA Project</a:t>
            </a:r>
          </a:p>
          <a:p>
            <a:pPr algn="ctr"/>
            <a:r>
              <a:rPr lang="en-IN" sz="2400" dirty="0"/>
              <a:t>Members Involved</a:t>
            </a:r>
            <a:endParaRPr lang="en-GB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3382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1D29F3-A5E4-1CA4-A6FE-52D83C18F0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318" b="4380"/>
          <a:stretch>
            <a:fillRect/>
          </a:stretch>
        </p:blipFill>
        <p:spPr>
          <a:xfrm>
            <a:off x="3958" y="662020"/>
            <a:ext cx="12184083" cy="543852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65BC0F7-9BAB-2ADE-CF39-130472620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768" y="1568059"/>
            <a:ext cx="5038344" cy="1709928"/>
          </a:xfrm>
        </p:spPr>
        <p:txBody>
          <a:bodyPr/>
          <a:lstStyle/>
          <a:p>
            <a:r>
              <a:rPr lang="en-US" dirty="0">
                <a:sym typeface="DM Sans Medium"/>
              </a:rPr>
              <a:t>Concepts:-</a:t>
            </a:r>
            <a:br>
              <a:rPr lang="en-US" dirty="0">
                <a:sym typeface="DM Sans Medium"/>
              </a:rPr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72EA7-7448-EA7A-DE1C-33CD1331C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639" y="2574036"/>
            <a:ext cx="7506268" cy="2715905"/>
          </a:xfrm>
        </p:spPr>
        <p:txBody>
          <a:bodyPr>
            <a:normAutofit fontScale="92500" lnSpcReduction="20000"/>
          </a:bodyPr>
          <a:lstStyle/>
          <a:p>
            <a:pPr marL="340614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 and Scope</a:t>
            </a:r>
          </a:p>
          <a:p>
            <a:pPr marL="340614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Stack (Python, HTML, CSS, JavaScript, JSON, Markdown, Other formats: Images(SVG,JPG)</a:t>
            </a:r>
          </a:p>
          <a:p>
            <a:pPr marL="340614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 and Functionalities</a:t>
            </a:r>
          </a:p>
          <a:p>
            <a:pPr marL="340614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 Diagram (backend and frontend interaction)</a:t>
            </a:r>
          </a:p>
          <a:p>
            <a:pPr marL="340614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Snippets and Logic Flow</a:t>
            </a:r>
          </a:p>
          <a:p>
            <a:pPr marL="340614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and Solutions</a:t>
            </a:r>
          </a:p>
          <a:p>
            <a:pPr marL="340614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Enhancements and Conclusion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25C49-A1AB-D377-2071-D29B1E66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00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D580FD-3274-4C45-4B62-5C15FF72E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B775EC-81F6-6E80-66A1-0527AF9AF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50" dirty="0"/>
              <a:t>Simple Chatbot Lead By Virendra Pal</a:t>
            </a:r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210CA9-3B88-2772-5AD7-503E8BF7C1A2}"/>
              </a:ext>
            </a:extLst>
          </p:cNvPr>
          <p:cNvSpPr txBox="1"/>
          <p:nvPr/>
        </p:nvSpPr>
        <p:spPr>
          <a:xfrm>
            <a:off x="2402011" y="891530"/>
            <a:ext cx="89529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i="0" dirty="0">
                <a:effectLst/>
                <a:latin typeface="fkGrotesk"/>
              </a:rPr>
              <a:t>Chatbot Project Task Distribution for Members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0E7F12-D0EE-E30F-0CA3-DC0DDF4F530C}"/>
              </a:ext>
            </a:extLst>
          </p:cNvPr>
          <p:cNvSpPr txBox="1"/>
          <p:nvPr/>
        </p:nvSpPr>
        <p:spPr>
          <a:xfrm>
            <a:off x="969212" y="1534161"/>
            <a:ext cx="111290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fkGroteskNeue"/>
              </a:rPr>
              <a:t>Backend development: Writing chatbot logic in Python, implementing data structures and algorithms for efficient query handling.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A54742-4DB0-7D55-F0B8-EC26186ACE4F}"/>
              </a:ext>
            </a:extLst>
          </p:cNvPr>
          <p:cNvSpPr txBox="1"/>
          <p:nvPr/>
        </p:nvSpPr>
        <p:spPr>
          <a:xfrm>
            <a:off x="956610" y="2106600"/>
            <a:ext cx="108148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fkGroteskNeue"/>
              </a:rPr>
              <a:t>Frontend web design: Creating the user interface using HTML, CSS, and JavaScript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JSON, Markdown, Other formats: Images(SVG,JPG)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0" i="0" dirty="0">
                <a:effectLst/>
                <a:latin typeface="fkGroteskNeue"/>
              </a:rPr>
              <a:t>for chatbot user interaction.</a:t>
            </a:r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B7B926-DA8B-4411-2A30-B6C639D0A05E}"/>
              </a:ext>
            </a:extLst>
          </p:cNvPr>
          <p:cNvSpPr txBox="1"/>
          <p:nvPr/>
        </p:nvSpPr>
        <p:spPr>
          <a:xfrm>
            <a:off x="956604" y="2699896"/>
            <a:ext cx="10775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fkGroteskNeue"/>
              </a:rPr>
              <a:t>Web integration: Connecting the Python backend with the web frontend, ensuring smooth communication between layers</a:t>
            </a:r>
            <a:r>
              <a:rPr lang="en-US" b="0" i="0" dirty="0">
                <a:effectLst/>
                <a:latin typeface="fkGroteskNeue"/>
              </a:rPr>
              <a:t>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0EF8CF-3507-42CF-E354-85A792449434}"/>
              </a:ext>
            </a:extLst>
          </p:cNvPr>
          <p:cNvSpPr txBox="1"/>
          <p:nvPr/>
        </p:nvSpPr>
        <p:spPr>
          <a:xfrm>
            <a:off x="955138" y="3286071"/>
            <a:ext cx="10664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fkGroteskNeue"/>
              </a:rPr>
              <a:t>Data analysis and visualization: Designing performance graphs, monitoring project metrics, and preparing visual reports</a:t>
            </a:r>
            <a:r>
              <a:rPr lang="en-US" b="0" i="0" dirty="0">
                <a:effectLst/>
                <a:latin typeface="fkGroteskNeue"/>
              </a:rPr>
              <a:t>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3F3DAD-4137-A77D-9713-AC87EE532844}"/>
              </a:ext>
            </a:extLst>
          </p:cNvPr>
          <p:cNvSpPr txBox="1"/>
          <p:nvPr/>
        </p:nvSpPr>
        <p:spPr>
          <a:xfrm>
            <a:off x="941074" y="3826079"/>
            <a:ext cx="105868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fkGroteskNeue"/>
              </a:rPr>
              <a:t>Project coordination and documentation: Managing schedules, tracking progress, and preparing presentations and reports.</a:t>
            </a:r>
            <a:endParaRPr lang="en-IN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E9EE21-330F-E22F-A791-FEF24DC50790}"/>
              </a:ext>
            </a:extLst>
          </p:cNvPr>
          <p:cNvSpPr txBox="1"/>
          <p:nvPr/>
        </p:nvSpPr>
        <p:spPr>
          <a:xfrm>
            <a:off x="936092" y="4458386"/>
            <a:ext cx="107758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fkGroteskNeue"/>
              </a:rPr>
              <a:t>Testing and debugging: Conducting systematic testing, identifying bugs, and optimizing chatbot performance for stability.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4375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8D10-52FC-614F-89A5-4F793BEFE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&amp; Output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5C5FD85-E72E-D48C-0D76-91EA62829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Responses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786E6DCD-CC36-DC45-20DF-1198A3CCF73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4190" b="14190"/>
          <a:stretch>
            <a:fillRect/>
          </a:stretch>
        </p:blipFill>
        <p:spPr>
          <a:xfrm>
            <a:off x="5128377" y="603504"/>
            <a:ext cx="5897880" cy="5897880"/>
          </a:xfrm>
          <a:prstGeom prst="ellipse">
            <a:avLst/>
          </a:prstGeom>
          <a:solidFill>
            <a:srgbClr val="F3EBE8"/>
          </a:solidFill>
          <a:ln w="254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5226397"/>
      </p:ext>
    </p:extLst>
  </p:cSld>
  <p:clrMapOvr>
    <a:masterClrMapping/>
  </p:clrMapOvr>
  <p:transition spd="slow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6D89B0-A070-0747-7DD8-DD67B58267D0}"/>
              </a:ext>
            </a:extLst>
          </p:cNvPr>
          <p:cNvSpPr txBox="1"/>
          <p:nvPr/>
        </p:nvSpPr>
        <p:spPr>
          <a:xfrm>
            <a:off x="707979" y="1047495"/>
            <a:ext cx="10939818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fkGrotesk"/>
              </a:rPr>
              <a:t>Key Opportunities with Chatbots</a:t>
            </a:r>
            <a:endParaRPr lang="en-US" b="1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u="sng" dirty="0">
                <a:effectLst/>
                <a:latin typeface="fkGroteskNeue"/>
              </a:rPr>
              <a:t>Enhanced Customer Support: </a:t>
            </a:r>
            <a:r>
              <a:rPr lang="en-US" sz="1600" b="0" i="0" dirty="0">
                <a:solidFill>
                  <a:schemeClr val="accent3">
                    <a:lumMod val="75000"/>
                  </a:schemeClr>
                </a:solidFill>
                <a:effectLst/>
                <a:latin typeface="fkGroteskNeue"/>
              </a:rPr>
              <a:t>Chatbots provide 24/7 customer service by answering FAQs, handling inquiries instantly, and allowing human agents to focus on complex issues. This improves response times and customer satisfaction.​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u="sng" dirty="0">
                <a:effectLst/>
                <a:latin typeface="fkGroteskNeue"/>
              </a:rPr>
              <a:t>Cost and Efficiency Gains: </a:t>
            </a:r>
            <a:r>
              <a:rPr lang="en-US" sz="1600" b="0" i="0" dirty="0">
                <a:solidFill>
                  <a:schemeClr val="accent3">
                    <a:lumMod val="75000"/>
                  </a:schemeClr>
                </a:solidFill>
                <a:effectLst/>
                <a:latin typeface="fkGroteskNeue"/>
              </a:rPr>
              <a:t>Automating routine interactions with chatbots reduces labor costs and operational overhead while scaling to handle multiple users simultaneously without adding staff.​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u="sng" dirty="0">
                <a:effectLst/>
                <a:latin typeface="fkGroteskNeue"/>
              </a:rPr>
              <a:t>Personalization and Engagement</a:t>
            </a:r>
            <a:r>
              <a:rPr lang="en-US" sz="1600" b="0" i="0" dirty="0">
                <a:solidFill>
                  <a:schemeClr val="accent3">
                    <a:lumMod val="75000"/>
                  </a:schemeClr>
                </a:solidFill>
                <a:effectLst/>
                <a:latin typeface="fkGroteskNeue"/>
              </a:rPr>
              <a:t>: Advanced chatbots can use historical data to offer personalized recommendations and proactive engagement, boosting conversion rates and loyalty</a:t>
            </a:r>
            <a:r>
              <a:rPr lang="en-US" sz="1600" b="0" i="0" dirty="0">
                <a:effectLst/>
                <a:latin typeface="fkGroteskNeue"/>
              </a:rPr>
              <a:t>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u="sng" dirty="0">
                <a:effectLst/>
                <a:latin typeface="fkGroteskNeue"/>
              </a:rPr>
              <a:t>Industry-Specific Use Cases: </a:t>
            </a:r>
            <a:r>
              <a:rPr lang="en-US" sz="1600" b="0" i="0" dirty="0">
                <a:solidFill>
                  <a:schemeClr val="accent3">
                    <a:lumMod val="75000"/>
                  </a:schemeClr>
                </a:solidFill>
                <a:effectLst/>
                <a:latin typeface="fkGroteskNeue"/>
              </a:rPr>
              <a:t>Chatbots are transforming customer experience in healthcare, finance, education, HR, travel, ecommerce, and more by automating processes like appointment booking, lead generation, employee onboarding, and surveys.​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u="sng" dirty="0">
                <a:effectLst/>
                <a:latin typeface="fkGroteskNeue"/>
              </a:rPr>
              <a:t>Data Collection &amp; Insights</a:t>
            </a:r>
            <a:r>
              <a:rPr lang="en-US" sz="1600" b="0" i="0" dirty="0">
                <a:solidFill>
                  <a:schemeClr val="accent3">
                    <a:lumMod val="75000"/>
                  </a:schemeClr>
                </a:solidFill>
                <a:effectLst/>
                <a:latin typeface="fkGroteskNeue"/>
              </a:rPr>
              <a:t>: Interactions with chatbots generate valuable data to analyze customer preferences and feedback, enabling businesses to refine products, marketing, and service quality</a:t>
            </a:r>
            <a:r>
              <a:rPr lang="en-US" sz="1600" b="0" i="0" dirty="0">
                <a:effectLst/>
                <a:latin typeface="fkGroteskNeue"/>
              </a:rPr>
              <a:t>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u="sng" dirty="0">
                <a:effectLst/>
                <a:latin typeface="fkGroteskNeue"/>
              </a:rPr>
              <a:t>New Revenue Models</a:t>
            </a:r>
            <a:r>
              <a:rPr lang="en-US" sz="1600" b="0" i="0" u="sng" dirty="0">
                <a:solidFill>
                  <a:schemeClr val="accent3">
                    <a:lumMod val="75000"/>
                  </a:schemeClr>
                </a:solidFill>
                <a:effectLst/>
                <a:latin typeface="fkGroteskNeue"/>
              </a:rPr>
              <a:t>: </a:t>
            </a:r>
            <a:r>
              <a:rPr lang="en-US" sz="1600" b="0" i="0" dirty="0">
                <a:solidFill>
                  <a:schemeClr val="accent3">
                    <a:lumMod val="75000"/>
                  </a:schemeClr>
                </a:solidFill>
                <a:effectLst/>
                <a:latin typeface="fkGroteskNeue"/>
              </a:rPr>
              <a:t>Businesses can create chatbot-as-a-service products, licensing chatbot technology or offering AI-powered customer interaction solutions.​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u="sng" dirty="0">
                <a:effectLst/>
                <a:latin typeface="fkGroteskNeue"/>
              </a:rPr>
              <a:t>Integration with Emerging Technologies</a:t>
            </a:r>
            <a:r>
              <a:rPr lang="en-US" sz="1600" b="0" i="0" u="sng" dirty="0">
                <a:solidFill>
                  <a:schemeClr val="accent3">
                    <a:lumMod val="75000"/>
                  </a:schemeClr>
                </a:solidFill>
                <a:effectLst/>
                <a:latin typeface="fkGroteskNeue"/>
              </a:rPr>
              <a:t>: </a:t>
            </a:r>
            <a:r>
              <a:rPr lang="en-US" sz="1600" b="0" i="0" dirty="0">
                <a:solidFill>
                  <a:schemeClr val="accent3">
                    <a:lumMod val="75000"/>
                  </a:schemeClr>
                </a:solidFill>
                <a:effectLst/>
                <a:latin typeface="fkGroteskNeue"/>
              </a:rPr>
              <a:t>AI chatbots can be combined with IoT, AR/VR, blockchain, and 5G networks for innovative use cases like smart home control, immersive customer support, and secure interactions</a:t>
            </a:r>
            <a:r>
              <a:rPr lang="en-US" sz="1600" b="0" i="0" dirty="0">
                <a:effectLst/>
                <a:latin typeface="fkGroteskNeue"/>
              </a:rPr>
              <a:t>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u="sng" dirty="0">
                <a:effectLst/>
                <a:latin typeface="fkGroteskNeue"/>
              </a:rPr>
              <a:t>Skill Development &amp; Career Opportunities: </a:t>
            </a:r>
            <a:r>
              <a:rPr lang="en-US" sz="1600" b="0" i="0" dirty="0">
                <a:solidFill>
                  <a:schemeClr val="accent3">
                    <a:lumMod val="75000"/>
                  </a:schemeClr>
                </a:solidFill>
                <a:effectLst/>
                <a:latin typeface="fkGroteskNeue"/>
              </a:rPr>
              <a:t>The growing demand for chatbot development offers career paths in AI, NLP, software engineering, and customer experience design.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6C03ECE-7FA5-FAD2-406E-B19CE8A18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0" y="5969000"/>
            <a:ext cx="7305675" cy="279400"/>
          </a:xfrm>
        </p:spPr>
        <p:txBody>
          <a:bodyPr/>
          <a:lstStyle/>
          <a:p>
            <a:r>
              <a:rPr lang="en-IN" dirty="0"/>
              <a:t>Simple Chatbot Lead By Virendra Pal</a:t>
            </a:r>
          </a:p>
        </p:txBody>
      </p:sp>
    </p:spTree>
    <p:extLst>
      <p:ext uri="{BB962C8B-B14F-4D97-AF65-F5344CB8AC3E}">
        <p14:creationId xmlns:p14="http://schemas.microsoft.com/office/powerpoint/2010/main" val="4255520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Quarterly performance of Chatbot Project vs. Sales Pipeline App">
            <a:extLst>
              <a:ext uri="{FF2B5EF4-FFF2-40B4-BE49-F238E27FC236}">
                <a16:creationId xmlns:a16="http://schemas.microsoft.com/office/drawing/2014/main" id="{D5028A8B-B241-134F-B15C-AC701E862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90" y="609600"/>
            <a:ext cx="10863616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BDE28-1B06-049E-A81D-37F2047B2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97D80A-E30C-45FC-0840-D845EAF7A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Simple Chatbot Lead By Virendra Pal</a:t>
            </a:r>
          </a:p>
        </p:txBody>
      </p:sp>
    </p:spTree>
    <p:extLst>
      <p:ext uri="{BB962C8B-B14F-4D97-AF65-F5344CB8AC3E}">
        <p14:creationId xmlns:p14="http://schemas.microsoft.com/office/powerpoint/2010/main" val="130979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AD6B-0EBB-7092-13C6-240F8A4A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Summary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A7609-6E6A-B996-BC29-F9AA857D7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Overall, chatbots represent promising opportunities for businesses to revolutionize customer engagement, improve efficiencies, and unlock new revenue streams while also driving technological innovation and workforce transformation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A450CD4-3018-DBCF-3A32-B72A7DCF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4" name="Picture Placeholder 9">
            <a:extLst>
              <a:ext uri="{FF2B5EF4-FFF2-40B4-BE49-F238E27FC236}">
                <a16:creationId xmlns:a16="http://schemas.microsoft.com/office/drawing/2014/main" id="{833DE2F8-A7C1-B456-45D4-4BD579F23C0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244" r="3244"/>
          <a:stretch/>
        </p:blipFill>
        <p:spPr>
          <a:xfrm>
            <a:off x="0" y="0"/>
            <a:ext cx="4351338" cy="6858000"/>
          </a:xfrm>
          <a:prstGeom prst="rect">
            <a:avLst/>
          </a:prstGeom>
          <a:solidFill>
            <a:srgbClr val="D97828"/>
          </a:solidFill>
        </p:spPr>
      </p:pic>
    </p:spTree>
    <p:extLst>
      <p:ext uri="{BB962C8B-B14F-4D97-AF65-F5344CB8AC3E}">
        <p14:creationId xmlns:p14="http://schemas.microsoft.com/office/powerpoint/2010/main" val="59172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4C5B759-93CB-5B5A-B1D2-2E3C42747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8546" y="2301149"/>
            <a:ext cx="4873752" cy="1127851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518B68B6-5284-F036-E87F-9BC3A435A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8553" y="2865074"/>
            <a:ext cx="2460969" cy="791569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Lead By Virendra Pal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139C5F3-56E6-29B8-5767-4E155498D7E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620" r="620"/>
          <a:stretch/>
        </p:blipFill>
        <p:spPr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23975833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583</TotalTime>
  <Words>568</Words>
  <Application>Microsoft Office PowerPoint</Application>
  <PresentationFormat>Widescreen</PresentationFormat>
  <Paragraphs>75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DM Sans Medium</vt:lpstr>
      <vt:lpstr>fkGrotesk</vt:lpstr>
      <vt:lpstr>fkGroteskNeue</vt:lpstr>
      <vt:lpstr>Garamond</vt:lpstr>
      <vt:lpstr>Karla</vt:lpstr>
      <vt:lpstr>Organic</vt:lpstr>
      <vt:lpstr>Welcome</vt:lpstr>
      <vt:lpstr>PowerPoint Presentation</vt:lpstr>
      <vt:lpstr>Concepts:- </vt:lpstr>
      <vt:lpstr>PowerPoint Presentation</vt:lpstr>
      <vt:lpstr>Input &amp; Output</vt:lpstr>
      <vt:lpstr>PowerPoint Presentation</vt:lpstr>
      <vt:lpstr>PowerPoint Presentation</vt:lpstr>
      <vt:lpstr>Summary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virendra pal</dc:creator>
  <cp:lastModifiedBy>virendra pal</cp:lastModifiedBy>
  <cp:revision>11</cp:revision>
  <dcterms:created xsi:type="dcterms:W3CDTF">2025-11-20T06:23:04Z</dcterms:created>
  <dcterms:modified xsi:type="dcterms:W3CDTF">2025-11-22T05:25:23Z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